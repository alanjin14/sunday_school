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818CF8"/>
                </a:solidFill>
                <a:latin typeface="Calibri"/>
              </a:defRPr>
            </a:pPr>
            <a:r>
              <a:t>ECC REDMOND  |  MARCH 22,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1F5F9"/>
                </a:solidFill>
                <a:latin typeface="Calibri"/>
              </a:defRPr>
            </a:pPr>
            <a:r>
              <a:t>Becoming a Living Sacrifice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94A3B8"/>
                </a:solidFill>
                <a:latin typeface="Calibri"/>
              </a:defRPr>
            </a:pPr>
            <a:r>
              <a:t>Sunday School — Middle Schoolers (Grades 6–8)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94A3B8"/>
                </a:solidFill>
                <a:latin typeface="Calibri"/>
              </a:defRPr>
            </a:pPr>
            <a:r>
              <a:t>Romans 12:1-8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1F5F9"/>
                </a:solidFill>
                <a:latin typeface="Calibri"/>
              </a:defRPr>
            </a:pPr>
            <a:r>
              <a:t>Lottery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94A3B8"/>
                </a:solidFill>
                <a:latin typeface="Calibri"/>
              </a:defRPr>
            </a:pPr>
            <a:r>
              <a:t>A poll from Philadelphia asked: You just won $100 MILLION.</a:t>
            </a:r>
            <a:br/>
            <a:r>
              <a:t>You never have to work again. No homework. No chores.</a:t>
            </a:r>
            <a:br/>
            <a:r>
              <a:t>Nobody can tell you what to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5EEAD4"/>
                </a:solidFill>
                <a:latin typeface="Calibri"/>
              </a:defRPr>
            </a:pPr>
            <a:r>
              <a:t>Total freedom.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BBF24"/>
                </a:solidFill>
                <a:latin typeface="Calibri"/>
              </a:defRPr>
            </a:pPr>
            <a:r>
              <a:t>What are the TOP 3 things you'd do with your life?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94A3B8"/>
                </a:solidFill>
                <a:latin typeface="Calibri"/>
              </a:defRPr>
            </a:pPr>
            <a:r>
              <a:t>You have 30 seconds. GO!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1F5F9"/>
                </a:solidFill>
                <a:latin typeface="Calibri"/>
              </a:defRPr>
            </a:pPr>
            <a:r>
              <a:t>Let's see how your answers stack up</a:t>
            </a:r>
            <a:br/>
            <a:r>
              <a:t>against a REAL POLL from Philadelphia!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5EEAD4"/>
                </a:solidFill>
                <a:latin typeface="Calibri"/>
              </a:defRPr>
            </a:pPr>
            <a:r>
              <a:t>Poll Answer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Travel the world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5EEAD4"/>
                </a:solidFill>
                <a:latin typeface="Calibri"/>
              </a:defRPr>
            </a:pPr>
            <a:r>
              <a:t>Poll Answer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Pay off all debts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5EEAD4"/>
                </a:solidFill>
                <a:latin typeface="Calibri"/>
              </a:defRPr>
            </a:pPr>
            <a:r>
              <a:t>Poll Answer #3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Become an artist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5EEAD4"/>
                </a:solidFill>
                <a:latin typeface="Calibri"/>
              </a:defRPr>
            </a:pPr>
            <a:r>
              <a:t>Poll Answer #4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Write a book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5EEAD4"/>
                </a:solidFill>
                <a:latin typeface="Calibri"/>
              </a:defRPr>
            </a:pPr>
            <a:r>
              <a:t>Poll Answer #5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Play video games full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94A3B8"/>
                </a:solidFill>
                <a:latin typeface="Calibri"/>
              </a:defRPr>
            </a:pPr>
            <a:r>
              <a:t>Pro gamer status — Elder Elton said</a:t>
            </a:r>
            <a:br/>
            <a:r>
              <a:t>"this might ring true to some of the youth here"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We've won the SPIRITUAL lottery.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E2E8F0"/>
                </a:solidFill>
                <a:latin typeface="Calibri"/>
              </a:defRPr>
            </a:pPr>
            <a:r>
              <a:t>Jesus paid off ALL our debts. Last week, Minister Ryan</a:t>
            </a:r>
            <a:br/>
            <a:r>
              <a:t>preached about our freedom from condemnation (Romans 8).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5EEAD4"/>
                </a:solidFill>
                <a:latin typeface="Calibri"/>
              </a:defRPr>
            </a:pPr>
            <a:r>
              <a:t>A lot of Christians think: "Once I'm saved, that's it!</a:t>
            </a:r>
            <a:br/>
            <a:r>
              <a:t>I'm on Easy Street until heaven."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02336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E2E8F0"/>
                </a:solidFill>
                <a:latin typeface="Calibri"/>
              </a:defRPr>
            </a:pPr>
            <a:r>
              <a:t>But there are 16 chapters in Romans. If salvation was</a:t>
            </a:r>
            <a:br/>
            <a:r>
              <a:t>all there was, it would end at chapter 11.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BBF24"/>
                </a:solidFill>
                <a:latin typeface="Calibri"/>
              </a:defRPr>
            </a:pPr>
            <a:r>
              <a:t>So what are you going to do</a:t>
            </a:r>
            <a:br/>
            <a:r>
              <a:t>with your freedom?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BBF24"/>
                </a:solidFill>
                <a:latin typeface="Calibri"/>
              </a:defRPr>
            </a:pPr>
            <a:r>
              <a:t>Key Verse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1">
                <a:solidFill>
                  <a:srgbClr val="E2E8F0"/>
                </a:solidFill>
                <a:latin typeface="Calibri"/>
              </a:defRPr>
            </a:pPr>
            <a:r>
              <a:t>"Therefore, I urge you, brothers and sisters,</a:t>
            </a:r>
            <a:br/>
            <a:r>
              <a:t>in view of God’s mercy, to offer your bodies</a:t>
            </a:r>
            <a:br/>
            <a:r>
              <a:t>as a living sacrifice, holy and pleasing to God —</a:t>
            </a:r>
            <a:br/>
            <a:r>
              <a:t>this is your true and proper worship."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94A3B8"/>
                </a:solidFill>
                <a:latin typeface="Calibri"/>
              </a:defRPr>
            </a:pPr>
            <a:r>
              <a:t>— Romans 12:1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1">
                <a:solidFill>
                  <a:srgbClr val="E2E8F0"/>
                </a:solidFill>
                <a:latin typeface="Calibri"/>
              </a:defRPr>
            </a:pPr>
            <a:r>
              <a:t>"Do not conform to the pattern of this world,</a:t>
            </a:r>
            <a:br/>
            <a:r>
              <a:t>but be transformed by the renewing of your mind.</a:t>
            </a:r>
            <a:br/>
            <a:r>
              <a:t>Then you will be able to test and approve what</a:t>
            </a:r>
            <a:br/>
            <a:r>
              <a:t>God’s will is — his good, pleasing and perfect will."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94A3B8"/>
                </a:solidFill>
                <a:latin typeface="Calibri"/>
              </a:defRPr>
            </a:pPr>
            <a:r>
              <a:t>— Romans 12:2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818CF8"/>
                </a:solidFill>
                <a:latin typeface="Calibri"/>
              </a:defRPr>
            </a:pPr>
            <a:r>
              <a:t>Last Week's Sermon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1F5F9"/>
                </a:solidFill>
                <a:latin typeface="Calibri"/>
              </a:defRPr>
            </a:pPr>
            <a:r>
              <a:t>Becoming a Living Sacrifice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E2E8F0"/>
                </a:solidFill>
                <a:latin typeface="Calibri"/>
              </a:defRPr>
            </a:pPr>
            <a:r>
              <a:t>▸  Part 1:  What Is a Living Sacrifice?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E2E8F0"/>
                </a:solidFill>
                <a:latin typeface="Calibri"/>
              </a:defRPr>
            </a:pPr>
            <a:r>
              <a:t>▸  Part 2:  Three Choices to Surrender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E2E8F0"/>
                </a:solidFill>
                <a:latin typeface="Calibri"/>
              </a:defRPr>
            </a:pPr>
            <a:r>
              <a:t>▸  Part 3:  True Worship = Service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93C5FD"/>
                </a:solidFill>
                <a:latin typeface="Calibri"/>
              </a:defRPr>
            </a:pPr>
            <a:r>
              <a:t>Key Idea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What Is a Living Sacrifice?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BBF24"/>
                </a:solidFill>
                <a:latin typeface="Calibri"/>
              </a:defRPr>
            </a:pPr>
            <a:r>
              <a:t>"Living sacrifice" is an OXYMORON!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In the OT, when you sacrifice something, it's DEAD. Pigeons dead. Rams dead. Goats dead.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Living = alive in God because of Christ (faith, not works!)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Sacrifice = giving yourself FULLY to God — no compartmentalizing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92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NOT reintroducing OT sacrifices. Jesus already paid for sins — that is DONE.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9875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 i="1">
                <a:solidFill>
                  <a:srgbClr val="E2E8F0"/>
                </a:solidFill>
                <a:latin typeface="Calibri"/>
              </a:defRPr>
            </a:pPr>
            <a:r>
              <a:t>"To live a Christian life, you’re not living</a:t>
            </a:r>
            <a:br/>
            <a:r>
              <a:t>a Christian life, unless you put to death</a:t>
            </a:r>
            <a:br/>
            <a:r>
              <a:t>the idea that you have a right to live</a:t>
            </a:r>
            <a:br/>
            <a:r>
              <a:t>as you choose."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94A3B8"/>
                </a:solidFill>
                <a:latin typeface="Calibri"/>
              </a:defRPr>
            </a:pPr>
            <a:r>
              <a:t>— Timothy Keller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9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0ABFC"/>
                </a:solidFill>
                <a:latin typeface="Calibri"/>
              </a:defRPr>
            </a:pPr>
            <a:r>
              <a:t>Key Idea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 i="0">
                <a:solidFill>
                  <a:srgbClr val="F1F5F9"/>
                </a:solidFill>
                <a:latin typeface="Calibri"/>
              </a:defRPr>
            </a:pPr>
            <a:r>
              <a:t>Three Choices to Surrender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E2E8F0"/>
                </a:solidFill>
                <a:latin typeface="Calibri"/>
              </a:defRPr>
            </a:pPr>
            <a:r>
              <a:t>Becoming a living sacrifice means handing over</a:t>
            </a:r>
            <a:br/>
            <a:r>
              <a:t>three big choices to God...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81C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5EEAD4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 i="0">
                <a:solidFill>
                  <a:srgbClr val="F0ABFC"/>
                </a:solidFill>
                <a:latin typeface="Calibri"/>
              </a:defRPr>
            </a:pPr>
            <a:r>
              <a:t>I'm letting God choose what is</a:t>
            </a:r>
            <a:br/>
            <a:r>
              <a:t>RIGHT AND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1">
                <a:solidFill>
                  <a:srgbClr val="94A3B8"/>
                </a:solidFill>
                <a:latin typeface="Calibri"/>
              </a:defRPr>
            </a:pPr>
            <a:r>
              <a:t>"Do not conform to the pattern of this world"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The world says: "You do you" — moral relativism, no absolute right or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As Christians: we trust God's wisdom to define right and wrong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Even when it's inconvenient or goes against what everyone around us is doing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2D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5EEAD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 i="0">
                <a:solidFill>
                  <a:srgbClr val="F0ABFC"/>
                </a:solidFill>
                <a:latin typeface="Calibri"/>
              </a:defRPr>
            </a:pPr>
            <a:r>
              <a:t>I'm letting God choose</a:t>
            </a:r>
            <a:br/>
            <a:r>
              <a:t>WHO I'M BECOMING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1">
                <a:solidFill>
                  <a:srgbClr val="94A3B8"/>
                </a:solidFill>
                <a:latin typeface="Calibri"/>
              </a:defRPr>
            </a:pPr>
            <a:r>
              <a:t>"Be transformed by the renewing of your mind"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God changes you from the inside out — character, heart, perspective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Transformation = becoming more like Christ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The CBE study shows what happens when you let God's Word transform you...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69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7DD3FC"/>
                </a:solidFill>
                <a:latin typeface="Calibri"/>
              </a:defRPr>
            </a:pPr>
            <a:r>
              <a:t>Bible Reading 4+ Times/Week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 i="0">
                <a:solidFill>
                  <a:srgbClr val="F1F5F9"/>
                </a:solidFill>
                <a:latin typeface="Calibri"/>
              </a:defRPr>
            </a:pPr>
            <a:r>
              <a:t>CBE Study of 40,000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BBF24"/>
                </a:solidFill>
                <a:latin typeface="Calibri"/>
              </a:defRPr>
            </a:pPr>
            <a:r>
              <a:t>-30%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94A3B8"/>
                </a:solidFill>
                <a:latin typeface="Calibri"/>
              </a:defRPr>
            </a:pPr>
            <a:r>
              <a:t>Loneliness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BBF24"/>
                </a:solidFill>
                <a:latin typeface="Calibri"/>
              </a:defRPr>
            </a:pPr>
            <a:r>
              <a:t>-32%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566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94A3B8"/>
                </a:solidFill>
                <a:latin typeface="Calibri"/>
              </a:defRPr>
            </a:pPr>
            <a:r>
              <a:t>Anger Issues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BBF24"/>
                </a:solidFill>
                <a:latin typeface="Calibri"/>
              </a:defRPr>
            </a:pPr>
            <a:r>
              <a:t>-40%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663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94A3B8"/>
                </a:solidFill>
                <a:latin typeface="Calibri"/>
              </a:defRPr>
            </a:pPr>
            <a:r>
              <a:t>Bitterness in Relationships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03519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BBF24"/>
                </a:solidFill>
                <a:latin typeface="Calibri"/>
              </a:defRPr>
            </a:pPr>
            <a:r>
              <a:t>-61%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76071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94A3B8"/>
                </a:solidFill>
                <a:latin typeface="Calibri"/>
              </a:defRPr>
            </a:pPr>
            <a:r>
              <a:t>Viewing Pornography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BBF24"/>
                </a:solidFill>
                <a:latin typeface="Calibri"/>
              </a:defRPr>
            </a:pPr>
            <a:r>
              <a:t>-74%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94A3B8"/>
                </a:solidFill>
                <a:latin typeface="Calibri"/>
              </a:defRPr>
            </a:pPr>
            <a:r>
              <a:t>Gambling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BBF24"/>
                </a:solidFill>
                <a:latin typeface="Calibri"/>
              </a:defRPr>
            </a:pPr>
            <a:r>
              <a:t>+407%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66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94A3B8"/>
                </a:solidFill>
                <a:latin typeface="Calibri"/>
              </a:defRPr>
            </a:pPr>
            <a:r>
              <a:t>Memorizing Scripture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062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BBF24"/>
                </a:solidFill>
                <a:latin typeface="Calibri"/>
              </a:defRPr>
            </a:pPr>
            <a:r>
              <a:t>+228%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663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94A3B8"/>
                </a:solidFill>
                <a:latin typeface="Calibri"/>
              </a:defRPr>
            </a:pPr>
            <a:r>
              <a:t>Sharing Your Faith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333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5EEAD4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 i="0">
                <a:solidFill>
                  <a:srgbClr val="F0ABFC"/>
                </a:solidFill>
                <a:latin typeface="Calibri"/>
              </a:defRPr>
            </a:pPr>
            <a:r>
              <a:t>I'm letting God choose</a:t>
            </a:r>
            <a:br/>
            <a:r>
              <a:t>WHAT I'LL DO WITH MY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1">
                <a:solidFill>
                  <a:srgbClr val="94A3B8"/>
                </a:solidFill>
                <a:latin typeface="Calibri"/>
              </a:defRPr>
            </a:pPr>
            <a:r>
              <a:t>Romans 12:3-8 — Using your gifts for others, not just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The opposite = "quiet quitting" on God — just doing the minimum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09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"Whatever you do, work at it with all your heart,</a:t>
            </a:r>
            <a:br/>
            <a:r>
              <a:t>   as working for the Lord" — Colossians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Your talents and gifts are for the benefit of OTHERS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2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 i="0">
                <a:solidFill>
                  <a:srgbClr val="FBBF24"/>
                </a:solidFill>
                <a:latin typeface="Calibri"/>
              </a:defRPr>
            </a:pPr>
            <a:r>
              <a:t>Three Surrenders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828800"/>
            <a:ext cx="6675120" cy="914400"/>
          </a:xfrm>
          <a:prstGeom prst="roundRect">
            <a:avLst/>
          </a:prstGeom>
          <a:solidFill>
            <a:srgbClr val="FBBF24">
              <a:lumMod val="15000"/>
            </a:srgbClr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BBF24"/>
                </a:solidFill>
              </a:defRPr>
            </a:pPr>
            <a:r>
              <a:t>🧭  What's right &amp; wrong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3017520"/>
            <a:ext cx="6675120" cy="914400"/>
          </a:xfrm>
          <a:prstGeom prst="roundRect">
            <a:avLst/>
          </a:prstGeom>
          <a:solidFill>
            <a:srgbClr val="FBBF24">
              <a:lumMod val="15000"/>
            </a:srgbClr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BBF24"/>
                </a:solidFill>
              </a:defRPr>
            </a:pPr>
            <a:r>
              <a:t>🧠  Who I'm becoming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4206240"/>
            <a:ext cx="6675120" cy="914400"/>
          </a:xfrm>
          <a:prstGeom prst="roundRect">
            <a:avLst/>
          </a:prstGeom>
          <a:solidFill>
            <a:srgbClr val="FBBF24">
              <a:lumMod val="15000"/>
            </a:srgbClr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BBF24"/>
                </a:solidFill>
              </a:defRPr>
            </a:pPr>
            <a:r>
              <a:t>🎯  What I'll do with my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94A3B8"/>
                </a:solidFill>
                <a:latin typeface="Calibri"/>
              </a:defRPr>
            </a:pPr>
            <a:r>
              <a:t>The Surrendered Life = giving up your right to choose</a:t>
            </a:r>
            <a:br/>
            <a:r>
              <a:t>your own way and following God's way instead.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86EFAC"/>
                </a:solidFill>
                <a:latin typeface="Calibri"/>
              </a:defRPr>
            </a:pPr>
            <a:r>
              <a:t>Key Idea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 i="0">
                <a:solidFill>
                  <a:srgbClr val="F1F5F9"/>
                </a:solidFill>
                <a:latin typeface="Calibri"/>
              </a:defRPr>
            </a:pPr>
            <a:r>
              <a:t>True Worship =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Greek word for "worship" in Romans 12:1 = latreia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It means BOTH worship AND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True worship isn't just singing on Sunday — it's how you live Mon–Sat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The motivation isn't GUILT — it's GRATITUDE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2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 i="0">
                <a:solidFill>
                  <a:srgbClr val="FBBF24"/>
                </a:solidFill>
                <a:latin typeface="Calibri"/>
              </a:defRPr>
            </a:pPr>
            <a:r>
              <a:t>The Big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87171"/>
                </a:solidFill>
                <a:latin typeface="Calibri"/>
              </a:defRPr>
            </a:pPr>
            <a:r>
              <a:t>Living for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CA5A5"/>
                </a:solidFill>
                <a:latin typeface="Calibri"/>
              </a:defRPr>
            </a:pPr>
            <a:r>
              <a:t>▸  Use gifts to promote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CA5A5"/>
                </a:solidFill>
                <a:latin typeface="Calibri"/>
              </a:defRPr>
            </a:pPr>
            <a:r>
              <a:t>▸  Maximize your own comfort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CA5A5"/>
                </a:solidFill>
                <a:latin typeface="Calibri"/>
              </a:defRPr>
            </a:pPr>
            <a:r>
              <a:t>▸  "Quiet quitting" — do the minimum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CA5A5"/>
                </a:solidFill>
                <a:latin typeface="Calibri"/>
              </a:defRPr>
            </a:pPr>
            <a:r>
              <a:t>▸  Self-centered perspective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86EFAC"/>
                </a:solidFill>
                <a:latin typeface="Calibri"/>
              </a:defRPr>
            </a:pPr>
            <a:r>
              <a:t>Living as a Sacrifice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BBF7D0"/>
                </a:solidFill>
                <a:latin typeface="Calibri"/>
              </a:defRPr>
            </a:pPr>
            <a:r>
              <a:t>▸  Use gifts to serve others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432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BBF7D0"/>
                </a:solidFill>
                <a:latin typeface="Calibri"/>
              </a:defRPr>
            </a:pPr>
            <a:r>
              <a:t>▸  Put others' needs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3832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BBF7D0"/>
                </a:solidFill>
                <a:latin typeface="Calibri"/>
              </a:defRPr>
            </a:pPr>
            <a:r>
              <a:t>▸  Work with all your heart for the Lord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233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BBF7D0"/>
                </a:solidFill>
                <a:latin typeface="Calibri"/>
              </a:defRPr>
            </a:pPr>
            <a:r>
              <a:t>▸  Selfless, Christ-like love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0A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C4B5FD"/>
                </a:solidFill>
                <a:latin typeface="Calibri"/>
              </a:defRPr>
            </a:pPr>
            <a:r>
              <a:t>Recommended Video (8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1F5F9"/>
                </a:solidFill>
                <a:latin typeface="Calibri"/>
              </a:defRPr>
            </a:pPr>
            <a:r>
              <a:t>BibleProject: Romans 5–16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FBBF24"/>
                </a:solidFill>
                <a:latin typeface="Calibri"/>
              </a:defRPr>
            </a:pPr>
            <a:r>
              <a:t>▶  youtube.com/watch?v=0SVTl4Xa5fY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94A3B8"/>
                </a:solidFill>
                <a:latin typeface="Calibri"/>
              </a:defRPr>
            </a:pPr>
            <a:r>
              <a:t>Click link above or search "BibleProject Romans 5-16"</a:t>
            </a:r>
            <a:br/>
            <a:r>
              <a:t>Covers Romans 5–16 themes including living sacrifice and the body of Christ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BBF24"/>
                </a:solidFill>
                <a:latin typeface="Calibri"/>
              </a:defRPr>
            </a:pPr>
            <a:r>
              <a:t>THE 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1">
                <a:solidFill>
                  <a:srgbClr val="E2E8F0"/>
                </a:solidFill>
                <a:latin typeface="Calibri"/>
              </a:defRPr>
            </a:pPr>
            <a:r>
              <a:t>Jesus paid off all your debts.</a:t>
            </a:r>
            <a:br/>
            <a:r>
              <a:t>You are FREE.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 i="0">
                <a:solidFill>
                  <a:srgbClr val="E2E8F0"/>
                </a:solidFill>
                <a:latin typeface="Calibri"/>
              </a:defRPr>
            </a:pPr>
            <a:r>
              <a:t>The question is: what are you going to do</a:t>
            </a:r>
            <a:br/>
            <a:r>
              <a:t>with that freedom?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 i="0">
                <a:solidFill>
                  <a:srgbClr val="FBBF24"/>
                </a:solidFill>
                <a:latin typeface="Calibri"/>
              </a:defRPr>
            </a:pPr>
            <a:r>
              <a:t>Not guilt. GRATITUDE.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1F5F9"/>
                </a:solidFill>
                <a:latin typeface="Calibri"/>
              </a:defRPr>
            </a:pPr>
            <a:r>
              <a:t>Small Group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94A3B8"/>
                </a:solidFill>
                <a:latin typeface="Calibri"/>
              </a:defRPr>
            </a:pPr>
            <a:r>
              <a:t>Split into groups of 4-5 with a leader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818CF8"/>
                </a:solidFill>
                <a:latin typeface="Calibri"/>
              </a:defRPr>
            </a:pPr>
            <a:r>
              <a:t>No judgment zone. Share honestly.</a:t>
            </a:r>
            <a:br/>
            <a:r>
              <a:t>Ask questions. Listen to each other.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
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18CF8"/>
                </a:solidFill>
                <a:latin typeface="Calibri"/>
              </a:defRPr>
            </a:pPr>
            <a:r>
              <a:t>ECC REDMOND  |  APRIL 19,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Scattered, Not Shattered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Sunday School — Middle Schoolers (Grades 6–8)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Acts 8:1-8  |  Pastor Steve Moy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SCATTERED!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I'll name something that starts together.</a:t>
            </a:r>
            <a:br/>
            <a:r>
              <a:t>You shout what could SCATTER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Get ready...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scatters...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A pile of leaves</a:t>
            </a:r>
            <a:br/>
            <a:r>
              <a:t>on the ground?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scatters...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A flock of pigeons</a:t>
            </a:r>
            <a:br/>
            <a:r>
              <a:t>in the park?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scatters...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Your friend group</a:t>
            </a:r>
            <a:br/>
            <a:r>
              <a:t>at school?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scatters...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A bag of marbles</a:t>
            </a:r>
            <a:br/>
            <a:r>
              <a:t>dropped on the floor?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scatters...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Seeds in a</a:t>
            </a:r>
            <a:br/>
            <a:r>
              <a:t>dandelion puff?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And they grow into NEW flowers wherever they land...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scattered...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The early church</a:t>
            </a:r>
            <a:br/>
            <a:r>
              <a:t>in Jerusalem?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86EFAC"/>
                </a:solidFill>
                <a:latin typeface="Calibri"/>
              </a:defRPr>
            </a:pPr>
            <a:r>
              <a:t>PERSECUTION.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But like dandelion seeds, they grew new churches</a:t>
            </a:r>
            <a:br/>
            <a:r>
              <a:t>everywhere they landed.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 i="0">
                <a:solidFill>
                  <a:srgbClr val="F1F5F9"/>
                </a:solidFill>
                <a:latin typeface="Calibri"/>
              </a:defRPr>
            </a:pPr>
            <a:r>
              <a:t>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1F5F9"/>
                </a:solidFill>
                <a:latin typeface="Calibri"/>
              </a:defRPr>
            </a:pPr>
            <a:r>
              <a:t>Disruption → Bigger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Pastor Steve's Star Wars comparison:</a:t>
            </a:r>
            <a:br/>
            <a:r>
              <a:t>Luke Skywalker was comfortable on Tatooine —</a:t>
            </a:r>
            <a:br/>
            <a:r>
              <a:t>harvesting water, minding his own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5EEAD4"/>
                </a:solidFill>
                <a:latin typeface="Calibri"/>
              </a:defRPr>
            </a:pPr>
            <a:r>
              <a:t>Then two droids showed up. His family died.</a:t>
            </a:r>
            <a:br/>
            <a:r>
              <a:t>His home was destroyed. That painful disruption</a:t>
            </a:r>
            <a:br/>
            <a:r>
              <a:t>pushed him into something greater — the Rebellion.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The early church didn't choose to leave Jerusalem —</a:t>
            </a:r>
            <a:br/>
            <a:r>
              <a:t>but God used that disruption to scatter them</a:t>
            </a:r>
            <a:br/>
            <a:r>
              <a:t>exactly where Jesus told them to 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BBF24"/>
                </a:solidFill>
                <a:latin typeface="Calibri"/>
              </a:defRPr>
            </a:pPr>
            <a:r>
              <a:t>Acts 8:1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E2E8F0"/>
                </a:solidFill>
                <a:latin typeface="Calibri"/>
              </a:defRPr>
            </a:pPr>
            <a:r>
              <a:t>"And Saul approved of his execution.</a:t>
            </a:r>
            <a:br/>
            <a:r>
              <a:t>And there arose on that day</a:t>
            </a:r>
            <a:br/>
            <a:r>
              <a:t>a great persecution against the church</a:t>
            </a:r>
            <a:br/>
            <a:r>
              <a:t>in Jerusalem, and they were all scattered</a:t>
            </a:r>
            <a:br/>
            <a:r>
              <a:t>throughout the regions of Judea and Samaria,</a:t>
            </a:r>
            <a:br/>
            <a:r>
              <a:t>except the apostles."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Acts 8:1 (ESV)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FCA5A5"/>
                </a:solidFill>
                <a:latin typeface="Calibri"/>
              </a:defRPr>
            </a:pPr>
            <a:r>
              <a:t>Greek "approved" = suneudokeo — "to be pleased with"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BBF24"/>
                </a:solidFill>
                <a:latin typeface="Calibri"/>
              </a:defRPr>
            </a:pPr>
            <a:r>
              <a:t>Acts 8:4-5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 i="1">
                <a:solidFill>
                  <a:srgbClr val="E2E8F0"/>
                </a:solidFill>
                <a:latin typeface="Calibri"/>
              </a:defRPr>
            </a:pPr>
            <a:r>
              <a:t>"Now those who were scattered</a:t>
            </a:r>
            <a:br/>
            <a:r>
              <a:t>went about preaching the word.</a:t>
            </a:r>
            <a:br/>
            <a:r>
              <a:t>Philip went down to the city of Samaria</a:t>
            </a:r>
            <a:br/>
            <a:r>
              <a:t>and proclaimed to them the Christ."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Acts 8:4-5 (ESV)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5EEAD4"/>
                </a:solidFill>
                <a:latin typeface="Calibri"/>
              </a:defRPr>
            </a:pPr>
            <a:r>
              <a:t>They didn't scatter and hide. They scattered and preached.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86EFAC"/>
                </a:solidFill>
                <a:latin typeface="Calibri"/>
              </a:defRPr>
            </a:pPr>
            <a:r>
              <a:t>Acts 8:8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 i="1">
                <a:solidFill>
                  <a:srgbClr val="E2E8F0"/>
                </a:solidFill>
                <a:latin typeface="Calibri"/>
              </a:defRPr>
            </a:pPr>
            <a:r>
              <a:t>"So there was much joy</a:t>
            </a:r>
            <a:br/>
            <a:r>
              <a:t>in that city."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Acts 8:8 (ESV)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BBF24"/>
                </a:solidFill>
                <a:latin typeface="Calibri"/>
              </a:defRPr>
            </a:pPr>
            <a:r>
              <a:t>Persecution  →  Scattering  →  Preaching  →  Healing  →  JOY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818CF8"/>
                </a:solidFill>
                <a:latin typeface="Calibri"/>
              </a:defRPr>
            </a:pPr>
            <a:r>
              <a:t>Pastor Steve Moy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1F5F9"/>
                </a:solidFill>
                <a:latin typeface="Calibri"/>
              </a:defRPr>
            </a:pPr>
            <a:r>
              <a:t>Scattered, Not Shattered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▸  1)  God Uses Disruption to Scatter His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▸  2)  The Courage of the Scattered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▸  3)  The Joy of the Unexpected Harvest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3C5FD"/>
                </a:solidFill>
                <a:latin typeface="Calibri"/>
              </a:defRPr>
            </a:pPr>
            <a:r>
              <a:t>Key Idea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God Uses Disruption to Move His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Jesus said go to all Judea and Samaria (Acts 1:8) — but the church stayed in Jerusalem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They were comfortable — gathering, eating, worshiping, growing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Persecution forced them outward — exactly where Jesus told them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God uses disruption not to punish us but to propel 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1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ABFC"/>
                </a:solidFill>
                <a:latin typeface="Calibri"/>
              </a:defRPr>
            </a:pPr>
            <a:r>
              <a:t>Key Idea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Ordinary People, Extraordinary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The apostles stayed in Jerusalem — ordinary believers scattered and preached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Philip was a deacon from Acts 6 — "in essence, he was a waiter"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He went to Samaria — Jews and Samaritans had hundreds of years of hostility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Mission belongs to all of us — not just pastors and missionaries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0" i="1">
                <a:solidFill>
                  <a:srgbClr val="E2E8F0"/>
                </a:solidFill>
                <a:latin typeface="Calibri"/>
              </a:defRPr>
            </a:pPr>
            <a:r>
              <a:t>"For God gave us a spirit</a:t>
            </a:r>
            <a:br/>
            <a:r>
              <a:t>not of fear but of power</a:t>
            </a:r>
            <a:br/>
            <a:r>
              <a:t>and of love and self-discipline."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4A3B8"/>
                </a:solidFill>
                <a:latin typeface="Calibri"/>
              </a:defRPr>
            </a:pPr>
            <a:r>
              <a:t>— 2 Timothy 1:7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03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4A3B8"/>
                </a:solidFill>
                <a:latin typeface="Calibri"/>
              </a:defRPr>
            </a:pPr>
            <a:r>
              <a:t>This is the power that compelled ordinary believers —</a:t>
            </a:r>
            <a:br/>
            <a:r>
              <a:t>not trained preachers — to share the gospel</a:t>
            </a:r>
            <a:br/>
            <a:r>
              <a:t>even while being hunted.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4A3B8"/>
                </a:solidFill>
                <a:latin typeface="Calibri"/>
              </a:defRPr>
            </a:pPr>
            <a:r>
              <a:t>Tim Keller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1">
                <a:solidFill>
                  <a:srgbClr val="E2E8F0"/>
                </a:solidFill>
                <a:latin typeface="Calibri"/>
              </a:defRPr>
            </a:pPr>
            <a:r>
              <a:t>"The Gospel is this;</a:t>
            </a:r>
            <a:br/>
            <a:r>
              <a:t>We are more sinful and flawed</a:t>
            </a:r>
            <a:br/>
            <a:r>
              <a:t>than we ever dared to believe,</a:t>
            </a:r>
            <a:br/>
            <a:r>
              <a:t>yet more loved and accepted</a:t>
            </a:r>
            <a:br/>
            <a:r>
              <a:t>than we ever dared to hope."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BBF24"/>
                </a:solidFill>
                <a:latin typeface="Calibri"/>
              </a:defRPr>
            </a:pPr>
            <a:r>
              <a:t>This gospel is not reserved for a few —</a:t>
            </a:r>
            <a:br/>
            <a:r>
              <a:t>it's entrusted to all of 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7DD3FC"/>
                </a:solidFill>
                <a:latin typeface="Calibri"/>
              </a:defRPr>
            </a:pPr>
            <a:r>
              <a:t>Modern-Day Scattering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1F5F9"/>
                </a:solidFill>
                <a:latin typeface="Calibri"/>
              </a:defRPr>
            </a:pPr>
            <a:r>
              <a:t>The COVID Pandemic (2020-2022)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Churches were forcibly closed — believers scattered to living rooms and Zoom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Surge in digital missions and local neighborhood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The gospel was taken out of churches and into the streets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Hundreds still tune in to ECC's messages online because of that scattering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Acts 8 isn't just ancient history — it still happens today.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6EFAC"/>
                </a:solidFill>
                <a:latin typeface="Calibri"/>
              </a:defRPr>
            </a:pPr>
            <a:r>
              <a:t>Key Idea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Scattering Leads to Unexpected Joy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Crowds paid attention to Philip with "one accord"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Unclean spirits cast out, paralyzed and lame healed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"So there was much joy in that city" (v.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The gospel doesn't just fix problems — it restores joy to communities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7DD3FC"/>
                </a:solidFill>
                <a:latin typeface="Calibri"/>
              </a:defRPr>
            </a:pPr>
            <a:r>
              <a:t>From Scattering to Joy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Stephen</a:t>
            </a:r>
            <a:br/>
            <a:r>
              <a:t>martyred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0" y="1371600"/>
            <a:ext cx="25603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Persecution</a:t>
            </a:r>
            <a:br/>
            <a:r>
              <a:t>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371600"/>
            <a:ext cx="25603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Believers</a:t>
            </a:r>
            <a:br/>
            <a:r>
              <a:t>scattered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25603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They preach</a:t>
            </a:r>
            <a:br/>
            <a:r>
              <a:t>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3383280"/>
            <a:ext cx="25603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Philip goes</a:t>
            </a:r>
            <a:br/>
            <a:r>
              <a:t>to Samaria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383280"/>
            <a:ext cx="2560320" cy="914400"/>
          </a:xfrm>
          <a:prstGeom prst="roundRect">
            <a:avLst/>
          </a:prstGeom>
          <a:solidFill>
            <a:srgbClr val="86EFAC">
              <a:lumMod val="15000"/>
            </a:srgbClr>
          </a:solidFill>
          <a:ln w="254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86EFAC"/>
                </a:solidFill>
              </a:defRPr>
            </a:pPr>
            <a:r>
              <a:t>MUCH</a:t>
            </a:r>
            <a:br/>
            <a:r>
              <a:t>JOY!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94A3B8"/>
                </a:solidFill>
                <a:latin typeface="Calibri"/>
              </a:defRPr>
            </a:pPr>
            <a:r>
              <a:t>God turned the church's worst day</a:t>
            </a:r>
            <a:br/>
            <a:r>
              <a:t>into the gospel's greatest advance.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4A3B8"/>
                </a:solidFill>
                <a:latin typeface="Calibri"/>
              </a:defRPr>
            </a:pPr>
            <a:r>
              <a:t>C.S. Lewis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1">
                <a:solidFill>
                  <a:srgbClr val="E2E8F0"/>
                </a:solidFill>
                <a:latin typeface="Calibri"/>
              </a:defRPr>
            </a:pPr>
            <a:r>
              <a:t>"Joy is the serious</a:t>
            </a:r>
            <a:br/>
            <a:r>
              <a:t>business of heaven."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4A3B8"/>
                </a:solidFill>
                <a:latin typeface="Calibri"/>
              </a:defRPr>
            </a:pPr>
            <a:r>
              <a:t>The joy in Samaria wasn't quiet or private —</a:t>
            </a:r>
            <a:br/>
            <a:r>
              <a:t>it was overflowing, communal, and visible.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FBBF24"/>
                </a:solidFill>
                <a:latin typeface="Calibri"/>
              </a:defRPr>
            </a:pPr>
            <a:r>
              <a:t>How Should We Respond?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85039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t>🌉  Equip EVERYONE to share the Gospel — be bridge builders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017520"/>
            <a:ext cx="85039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t>🎯  See yourself on mission — presence of peace, integrity, grace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206240"/>
            <a:ext cx="85039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t>💪  Live with courage — build relationships beyond your comfort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4A3B8"/>
                </a:solidFill>
                <a:latin typeface="Calibri"/>
              </a:defRPr>
            </a:pPr>
            <a:r>
              <a:t>Philip was a table server. God used him to bring joy to a whole city.</a:t>
            </a:r>
            <a:br/>
            <a:r>
              <a:t>God can use YOU too.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C4B5FD"/>
                </a:solidFill>
                <a:latin typeface="Calibri"/>
              </a:defRPr>
            </a:pPr>
            <a:r>
              <a:t>Recommended Video (8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BibleProject: Acts 8–12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BBF24"/>
                </a:solidFill>
                <a:latin typeface="Calibri"/>
              </a:defRPr>
            </a:pPr>
            <a:r>
              <a:t>▶  youtube.com/watch?v=Z-17KxKjvfM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Click link above or search "BibleProject Acts 8-12"</a:t>
            </a:r>
            <a:br/>
            <a:r>
              <a:t>Covers Acts 8-12 including the scattering and Philip's ministry in Samaria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BBF24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1">
                <a:solidFill>
                  <a:srgbClr val="E2E8F0"/>
                </a:solidFill>
                <a:latin typeface="Calibri"/>
              </a:defRPr>
            </a:pPr>
            <a:r>
              <a:t>God turns our scattering into His strategy.</a:t>
            </a:r>
            <a:br/>
            <a:r>
              <a:t>Every believer — not just pastors — is called</a:t>
            </a:r>
            <a:br/>
            <a:r>
              <a:t>to share Christ wherever they are scattered.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Philip was "in essence, a waiter."</a:t>
            </a:r>
            <a:br/>
            <a:r>
              <a:t>God used him to change a 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86EFAC"/>
                </a:solidFill>
                <a:latin typeface="Calibri"/>
              </a:defRPr>
            </a:pPr>
            <a:r>
              <a:t>Scattered, but never shattered.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Small Group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Split into groups of 4-5 with a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818CF8"/>
                </a:solidFill>
                <a:latin typeface="Calibri"/>
              </a:defRPr>
            </a:pPr>
            <a:r>
              <a:t>No judgment zone. Share honestly.</a:t>
            </a:r>
            <a:br/>
            <a:r>
              <a:t>Ask questions. Listen to each 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